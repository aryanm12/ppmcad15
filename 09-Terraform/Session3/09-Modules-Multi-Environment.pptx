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9" r:id="rId14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4" d="100"/>
          <a:sy n="84" d="100"/>
        </p:scale>
        <p:origin x="780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4179863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5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11880" y="457200"/>
            <a:ext cx="1920240" cy="1920240"/>
          </a:xfrm>
          <a:prstGeom prst="ellipse">
            <a:avLst/>
          </a:prstGeom>
          <a:ln w="31750">
            <a:solidFill>
              <a:srgbClr val="326CE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7640" y="685800"/>
            <a:ext cx="1188720" cy="11887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256032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Modules &amp; Multi-Environment Infrastructure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914400" y="384048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i="1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Reusable Code, Multiple Deployments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8ED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B25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Learning Objectives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280160"/>
            <a:ext cx="365760" cy="3657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97280" y="1188720"/>
            <a:ext cx="7406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Understand the problem: code duplication across environments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457200" y="1828800"/>
            <a:ext cx="8229600" cy="548640"/>
          </a:xfrm>
          <a:prstGeom prst="rect">
            <a:avLst/>
          </a:prstGeom>
          <a:solidFill>
            <a:srgbClr val="F4F7FC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920240"/>
            <a:ext cx="365760" cy="36576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097280" y="1828800"/>
            <a:ext cx="7406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 module structure: main.tf, variables.tf, outputs.tf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457200" y="2468880"/>
            <a:ext cx="8229600" cy="5486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2560320"/>
            <a:ext cx="365760" cy="36576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1097280" y="2468880"/>
            <a:ext cx="7406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reusable VPC, EC2, and S3 modules</a:t>
            </a:r>
            <a:endParaRPr lang="en-US" sz="1400" dirty="0"/>
          </a:p>
        </p:txBody>
      </p:sp>
      <p:sp>
        <p:nvSpPr>
          <p:cNvPr id="12" name="Shape 7"/>
          <p:cNvSpPr/>
          <p:nvPr/>
        </p:nvSpPr>
        <p:spPr>
          <a:xfrm>
            <a:off x="457200" y="3108960"/>
            <a:ext cx="8229600" cy="548640"/>
          </a:xfrm>
          <a:prstGeom prst="rect">
            <a:avLst/>
          </a:prstGeom>
          <a:solidFill>
            <a:srgbClr val="F4F7FC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3200400"/>
            <a:ext cx="365760" cy="36576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097280" y="3108960"/>
            <a:ext cx="7406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Wire modules together in root configuration</a:t>
            </a:r>
            <a:endParaRPr lang="en-US" sz="1400" dirty="0"/>
          </a:p>
        </p:txBody>
      </p:sp>
      <p:sp>
        <p:nvSpPr>
          <p:cNvPr id="15" name="Shape 9"/>
          <p:cNvSpPr/>
          <p:nvPr/>
        </p:nvSpPr>
        <p:spPr>
          <a:xfrm>
            <a:off x="457200" y="3749040"/>
            <a:ext cx="8229600" cy="54864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16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3840480"/>
            <a:ext cx="365760" cy="365760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1097280" y="3749040"/>
            <a:ext cx="7406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 identical infrastructure to dev, qa, prod with different variables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8ED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B25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Problem: Code Duplication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7A8B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Without modules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786384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Copy-paste VPC code for dev, qa, prod = 3 copies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bug fix = apply to 3 places (easy to miss one)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 to maintain: changes scatter across files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Violates DRY principle (Don't Repeat Yourself)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Configuration drift: dev and prod VPCs gradually diverge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Solution: Modules! Write once, use many times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ED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B25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are Modules?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7A8B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Reusable packages of Terraform code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3931920" cy="33375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3931920" cy="384048"/>
          </a:xfrm>
          <a:prstGeom prst="rect">
            <a:avLst/>
          </a:prstGeom>
          <a:solidFill>
            <a:srgbClr val="326CE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3931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= Package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1965960"/>
            <a:ext cx="3566160" cy="2606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Directory with main.tf, variables.tf, outputs.tf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Self-contained: VPC, EC2, S3 each get own module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Inputs: variables (configurable)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Outputs: expose resource attributes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 call modules from root configuration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754880" y="1417320"/>
            <a:ext cx="3931920" cy="33375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9" name="Shape 7"/>
          <p:cNvSpPr/>
          <p:nvPr/>
        </p:nvSpPr>
        <p:spPr>
          <a:xfrm>
            <a:off x="4754880" y="1417320"/>
            <a:ext cx="3931920" cy="384048"/>
          </a:xfrm>
          <a:prstGeom prst="rect">
            <a:avLst/>
          </a:prstGeom>
          <a:solidFill>
            <a:srgbClr val="00B07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4754880" y="1417320"/>
            <a:ext cx="3931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Analogy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937760" y="1965960"/>
            <a:ext cx="3566160" cy="2606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Functions in programming: take inputs, return outputs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NPM packages: npm install, then use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 images: pull, configure, run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Terraform modules: define, parameterize, deploy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8ED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B25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Structure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7A8B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goes in a module directory?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786384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main.tf: resource definitions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variables.tf: input variables (configurable)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outputs.tf: expose values to caller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README.md: documentation (optional but recommended)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Example:</a:t>
            </a:r>
            <a:endParaRPr lang="en-US" sz="1200" dirty="0"/>
          </a:p>
          <a:p>
            <a:pPr marL="0" indent="0">
              <a:spcAft>
                <a:spcPts val="800"/>
              </a:spcAft>
              <a:buNone/>
            </a:pPr>
            <a:endParaRPr lang="en-US" sz="12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2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modules/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vpc/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main.tf, variables.tf, outputs.tf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ec2/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main.tf, variables.tf, outputs.tf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s3/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main.tf, variables.tf, outputs.tf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B25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Example: VPC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8229600" cy="3931920"/>
          </a:xfrm>
          <a:prstGeom prst="rect">
            <a:avLst/>
          </a:prstGeom>
          <a:solidFill>
            <a:srgbClr val="2D345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640080" y="1143000"/>
            <a:ext cx="7863840" cy="37261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8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modules/vpc/main.tf</a:t>
            </a:r>
            <a:endParaRPr lang="en-US" sz="8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8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resource "aws_vpc" "main" {</a:t>
            </a:r>
            <a:endParaRPr lang="en-US" sz="8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8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cidr_block = var.cidr_block</a:t>
            </a:r>
            <a:endParaRPr lang="en-US" sz="8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8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tags = { Name = var.name }</a:t>
            </a:r>
            <a:endParaRPr lang="en-US" sz="8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8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8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endParaRPr lang="en-US" sz="8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8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resource "aws_subnet" "public" {</a:t>
            </a:r>
            <a:endParaRPr lang="en-US" sz="8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8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vpc_id            = aws_vpc.main.id</a:t>
            </a:r>
            <a:endParaRPr lang="en-US" sz="8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8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cidr_block        = var.public_subnet_cidr</a:t>
            </a:r>
            <a:endParaRPr lang="en-US" sz="8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8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availability_zone = var.availability_zone</a:t>
            </a:r>
            <a:endParaRPr lang="en-US" sz="8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8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8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endParaRPr lang="en-US" sz="8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8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modules/vpc/variables.tf</a:t>
            </a:r>
            <a:endParaRPr lang="en-US" sz="8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8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variable "name" { type = string }</a:t>
            </a:r>
            <a:endParaRPr lang="en-US" sz="8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8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variable "cidr_block" { type = string }</a:t>
            </a:r>
            <a:endParaRPr lang="en-US" sz="8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8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variable "public_subnet_cidr" { type = string }</a:t>
            </a:r>
            <a:endParaRPr lang="en-US" sz="8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8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variable "availability_zone" { type = string }</a:t>
            </a:r>
            <a:endParaRPr lang="en-US" sz="8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endParaRPr lang="en-US" sz="8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8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modules/vpc/outputs.tf</a:t>
            </a:r>
            <a:endParaRPr lang="en-US" sz="8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8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output "vpc_id" { value = aws_vpc.main.id }</a:t>
            </a:r>
            <a:endParaRPr lang="en-US" sz="8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8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output "subnet_id" { value = aws_subnet.public.id }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B25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Example: EC2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8229600" cy="3901440"/>
          </a:xfrm>
          <a:prstGeom prst="rect">
            <a:avLst/>
          </a:prstGeom>
          <a:solidFill>
            <a:srgbClr val="2D345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640080" y="1143000"/>
            <a:ext cx="7863840" cy="3550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9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modules/ec2/main.tf</a:t>
            </a:r>
            <a:endParaRPr lang="en-US" sz="9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9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resource "aws_instance" "main" {</a:t>
            </a:r>
            <a:endParaRPr lang="en-US" sz="9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9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ami           = var.ami</a:t>
            </a:r>
            <a:endParaRPr lang="en-US" sz="9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9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instance_type = var.instance_type</a:t>
            </a:r>
            <a:endParaRPr lang="en-US" sz="9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9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subnet_id     = var.subnet_id</a:t>
            </a:r>
            <a:endParaRPr lang="en-US" sz="9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9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tags = { Name = var.name }</a:t>
            </a:r>
            <a:endParaRPr lang="en-US" sz="9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9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9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endParaRPr lang="en-US" sz="9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9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modules/ec2/variables.tf</a:t>
            </a:r>
            <a:endParaRPr lang="en-US" sz="9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9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variable "name" { type = string }</a:t>
            </a:r>
            <a:endParaRPr lang="en-US" sz="9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9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variable "ami" { type = string }</a:t>
            </a:r>
            <a:endParaRPr lang="en-US" sz="9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9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variable "instance_type" { type = string }</a:t>
            </a:r>
            <a:endParaRPr lang="en-US" sz="9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9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variable "subnet_id" { type = string }</a:t>
            </a:r>
            <a:endParaRPr lang="en-US" sz="9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endParaRPr lang="en-US" sz="9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9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modules/ec2/outputs.tf</a:t>
            </a:r>
            <a:endParaRPr lang="en-US" sz="9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9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output "instance_id" { value = aws_instance.main.id }</a:t>
            </a:r>
            <a:endParaRPr lang="en-US" sz="9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9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output "private_ip" { value = aws_instance.main.private_ip }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B25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Example: S3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8229600" cy="3931920"/>
          </a:xfrm>
          <a:prstGeom prst="rect">
            <a:avLst/>
          </a:prstGeom>
          <a:solidFill>
            <a:srgbClr val="2D345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640080" y="1143000"/>
            <a:ext cx="7863840" cy="37261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8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modules/s3/main.tf</a:t>
            </a:r>
            <a:endParaRPr lang="en-US" sz="8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8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resource "aws_s3_bucket" "main" {</a:t>
            </a:r>
            <a:endParaRPr lang="en-US" sz="8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8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bucket = var.bucket_name</a:t>
            </a:r>
            <a:endParaRPr lang="en-US" sz="8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8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tags = { Name = var.name }</a:t>
            </a:r>
            <a:endParaRPr lang="en-US" sz="8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8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8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endParaRPr lang="en-US" sz="8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8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resource "aws_s3_bucket_versioning" "main" {</a:t>
            </a:r>
            <a:endParaRPr lang="en-US" sz="8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8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bucket = aws_s3_bucket.main.id</a:t>
            </a:r>
            <a:endParaRPr lang="en-US" sz="8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8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versioning_configuration {</a:t>
            </a:r>
            <a:endParaRPr lang="en-US" sz="8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8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status = var.enable_versioning ? "Enabled" : "Suspended"</a:t>
            </a:r>
            <a:endParaRPr lang="en-US" sz="8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8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8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8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8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endParaRPr lang="en-US" sz="8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8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modules/s3/variables.tf</a:t>
            </a:r>
            <a:endParaRPr lang="en-US" sz="8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8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variable "name" { type = string }</a:t>
            </a:r>
            <a:endParaRPr lang="en-US" sz="8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8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variable "bucket_name" { type = string }</a:t>
            </a:r>
            <a:endParaRPr lang="en-US" sz="8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8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variable "enable_versioning" { type = bool; default = false }</a:t>
            </a:r>
            <a:endParaRPr lang="en-US" sz="8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endParaRPr lang="en-US" sz="8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8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modules/s3/outputs.tf</a:t>
            </a:r>
            <a:endParaRPr lang="en-US" sz="8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8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output "bucket_id" { value = aws_s3_bucket.main.id }</a:t>
            </a:r>
            <a:endParaRPr lang="en-US" sz="8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8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output "bucket_arn" { value = aws_s3_bucket.main.arn }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B25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Root Configuration: Wire Modules Together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8229600" cy="3954780"/>
          </a:xfrm>
          <a:prstGeom prst="rect">
            <a:avLst/>
          </a:prstGeom>
          <a:solidFill>
            <a:srgbClr val="2D345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640080" y="1143000"/>
            <a:ext cx="7863840" cy="37261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7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main.tf (root)</a:t>
            </a:r>
            <a:endParaRPr lang="en-US" sz="7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7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module "vpc" {</a:t>
            </a:r>
            <a:endParaRPr lang="en-US" sz="7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7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source                = "./modules/vpc"</a:t>
            </a:r>
            <a:endParaRPr lang="en-US" sz="7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7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name                  = "${var.environment}-vpc"</a:t>
            </a:r>
            <a:endParaRPr lang="en-US" sz="7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7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cidr_block            = "10.0.0.0/16"</a:t>
            </a:r>
            <a:endParaRPr lang="en-US" sz="7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7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public_subnet_cidr    = "10.0.1.0/24"</a:t>
            </a:r>
            <a:endParaRPr lang="en-US" sz="7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7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availability_zone     = "us-east-1a"</a:t>
            </a:r>
            <a:endParaRPr lang="en-US" sz="7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7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7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endParaRPr lang="en-US" sz="7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7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module "ec2" {</a:t>
            </a:r>
            <a:endParaRPr lang="en-US" sz="7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7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source        = "./modules/ec2"</a:t>
            </a:r>
            <a:endParaRPr lang="en-US" sz="7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7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name          = "${var.environment}-server"</a:t>
            </a:r>
            <a:endParaRPr lang="en-US" sz="7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7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ami           = data.aws_ami.ubuntu.id</a:t>
            </a:r>
            <a:endParaRPr lang="en-US" sz="7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7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instance_type = var.environment == "prod" ? "t2.large" : "t2.micro"</a:t>
            </a:r>
            <a:endParaRPr lang="en-US" sz="7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7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subnet_id     = module.vpc.subnet_id</a:t>
            </a:r>
            <a:endParaRPr lang="en-US" sz="7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7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7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endParaRPr lang="en-US" sz="7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7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module "s3" {</a:t>
            </a:r>
            <a:endParaRPr lang="en-US" sz="7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7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source             = "./modules/s3"</a:t>
            </a:r>
            <a:endParaRPr lang="en-US" sz="7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7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name               = "${var.environment}-bucket"</a:t>
            </a:r>
            <a:endParaRPr lang="en-US" sz="7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7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bucket_name        = "my-app-${var.environment}-bucket"</a:t>
            </a:r>
            <a:endParaRPr lang="en-US" sz="7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7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enable_versioning  = var.environment == "prod"</a:t>
            </a:r>
            <a:endParaRPr lang="en-US" sz="7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7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8ED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B25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Multi-Environment Pattern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7A8B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 identical code to dev, qa, prod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786384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spcAft>
                <a:spcPts val="800"/>
              </a:spcAft>
              <a:buSzPct val="100000"/>
            </a:pPr>
            <a:r>
              <a:rPr lang="en-US" sz="12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Directory structure:</a:t>
            </a:r>
            <a:endParaRPr lang="en-US" sz="1200" dirty="0"/>
          </a:p>
          <a:p>
            <a:pPr marL="171450" indent="-171450">
              <a:spcAft>
                <a:spcPts val="800"/>
              </a:spcAft>
              <a:buSzPct val="100000"/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modules/ (VPC, EC2, S3)</a:t>
            </a:r>
            <a:endParaRPr lang="en-US" sz="1200" dirty="0"/>
          </a:p>
          <a:p>
            <a:pPr marL="171450" indent="-171450"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 specific folders like dev, </a:t>
            </a:r>
            <a:r>
              <a:rPr lang="en-US" sz="1200" dirty="0" err="1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qa</a:t>
            </a:r>
            <a:r>
              <a:rPr lang="en-US" sz="12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and prod with </a:t>
            </a:r>
          </a:p>
          <a:p>
            <a:pPr marL="628650" lvl="1" indent="-171450"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main.tf, provider.tf (shared root config)</a:t>
            </a:r>
          </a:p>
          <a:p>
            <a:pPr marL="628650" lvl="1" indent="-171450"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US" sz="1200" dirty="0" err="1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dev.tfvars</a:t>
            </a:r>
            <a:r>
              <a:rPr lang="en-US" sz="12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(dev inputs: t3.micro, no versioning) inside dev folder</a:t>
            </a:r>
            <a:endParaRPr lang="en-US" sz="1200" dirty="0"/>
          </a:p>
          <a:p>
            <a:pPr marL="628650" lvl="1" indent="-171450"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US" sz="1200" dirty="0" err="1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qa.tfvars</a:t>
            </a:r>
            <a:r>
              <a:rPr lang="en-US" sz="12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</a:t>
            </a:r>
            <a:r>
              <a:rPr lang="en-US" sz="1200" dirty="0" err="1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qa</a:t>
            </a:r>
            <a:r>
              <a:rPr lang="en-US" sz="12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inputs: t3.small, versioning on) inside </a:t>
            </a:r>
            <a:r>
              <a:rPr lang="en-US" sz="1200" dirty="0" err="1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qa</a:t>
            </a:r>
            <a:r>
              <a:rPr lang="en-US" sz="12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folder</a:t>
            </a:r>
            <a:endParaRPr lang="en-US" sz="1200" dirty="0"/>
          </a:p>
          <a:p>
            <a:pPr marL="628650" lvl="1" indent="-171450"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US" sz="1200" dirty="0" err="1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prod.tfvars</a:t>
            </a:r>
            <a:r>
              <a:rPr lang="en-US" sz="12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(prod inputs: t3.large, versioning on) inside prod folder</a:t>
            </a:r>
            <a:endParaRPr lang="en-US" sz="1200" dirty="0"/>
          </a:p>
          <a:p>
            <a:pPr marL="171450" indent="-171450">
              <a:spcAft>
                <a:spcPts val="800"/>
              </a:spcAft>
              <a:buSzPct val="100000"/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 dev: cd dev; terraform apply -var-file=dev.tfvars</a:t>
            </a:r>
            <a:endParaRPr lang="en-US" sz="1200" dirty="0"/>
          </a:p>
          <a:p>
            <a:pPr marL="171450" indent="-171450">
              <a:spcAft>
                <a:spcPts val="800"/>
              </a:spcAft>
              <a:buSzPct val="100000"/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 qa:  cd </a:t>
            </a:r>
            <a:r>
              <a:rPr lang="en-US" sz="1200" dirty="0" err="1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qa</a:t>
            </a:r>
            <a:r>
              <a:rPr lang="en-US" sz="12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; terraform apply -var-file=qa.tfvars</a:t>
            </a:r>
            <a:endParaRPr lang="en-US" sz="1200" dirty="0"/>
          </a:p>
          <a:p>
            <a:pPr marL="171450" indent="-171450">
              <a:spcAft>
                <a:spcPts val="800"/>
              </a:spcAft>
              <a:buSzPct val="100000"/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 prod: cd prod; terraform apply -var-file=prod.tfvars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25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dev.tfvars vs prod.tfvars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8229600" cy="3200400"/>
          </a:xfrm>
          <a:prstGeom prst="rect">
            <a:avLst/>
          </a:prstGeom>
          <a:solidFill>
            <a:srgbClr val="2D345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640080" y="1143000"/>
            <a:ext cx="786384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1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dev.tfvars</a:t>
            </a:r>
            <a:endParaRPr lang="en-US" sz="11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1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environment         = "dev"</a:t>
            </a:r>
            <a:endParaRPr lang="en-US" sz="11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1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instance_type       = "t2.micro"</a:t>
            </a:r>
            <a:endParaRPr lang="en-US" sz="11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1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enable_versioning   = false</a:t>
            </a:r>
            <a:endParaRPr lang="en-US" sz="11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1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enable_nat_gateway  = false</a:t>
            </a:r>
            <a:endParaRPr lang="en-US" sz="11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endParaRPr lang="en-US" sz="11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1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prod.tfvars</a:t>
            </a:r>
            <a:endParaRPr lang="en-US" sz="11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1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environment         = "prod"</a:t>
            </a:r>
            <a:endParaRPr lang="en-US" sz="11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1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instance_type       = "t2.large"</a:t>
            </a:r>
            <a:endParaRPr lang="en-US" sz="11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1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enable_versioning   = true</a:t>
            </a:r>
            <a:endParaRPr lang="en-US" sz="11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1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enable_nat_gateway  = true</a:t>
            </a:r>
            <a:endParaRPr lang="en-US" sz="11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endParaRPr lang="en-US" sz="11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1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Both use the SAME code (main.tf, modules/)</a:t>
            </a:r>
            <a:endParaRPr lang="en-US" sz="11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1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Only variables change!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4434840"/>
            <a:ext cx="8229600" cy="365760"/>
          </a:xfrm>
          <a:prstGeom prst="rect">
            <a:avLst/>
          </a:prstGeom>
          <a:solidFill>
            <a:srgbClr val="326CE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457200" y="44348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DRY principle in action: one code, many deployments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8ED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B25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Best Practices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7A8B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Tips for maintainable modules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786384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Version your modules: tag releases (v1.0, v1.1, v2.0)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semantic versioning: MAJOR.MINOR.PATCH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 inputs/outputs in README.md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modules focused: one responsibility (VPC, EC2, S3)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Terraform Registry to share public modules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 </a:t>
            </a:r>
            <a:r>
              <a:rPr lang="en-US" sz="1300" dirty="0" err="1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required_version</a:t>
            </a:r>
            <a:r>
              <a:rPr lang="en-US" sz="13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and provider version constraints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modules before using in production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Never hardcode values; always use variables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B25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7640" y="1226820"/>
            <a:ext cx="1188720" cy="11887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25984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Hands-On Labs</a:t>
            </a:r>
            <a:endParaRPr lang="en-US" sz="4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1333</Words>
  <Application>Microsoft Office PowerPoint</Application>
  <PresentationFormat>On-screen Show (16:9)</PresentationFormat>
  <Paragraphs>182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KubeCraft Technologies</cp:lastModifiedBy>
  <cp:revision>11</cp:revision>
  <dcterms:created xsi:type="dcterms:W3CDTF">2026-03-26T21:11:56Z</dcterms:created>
  <dcterms:modified xsi:type="dcterms:W3CDTF">2026-05-19T18:25:50Z</dcterms:modified>
</cp:coreProperties>
</file>
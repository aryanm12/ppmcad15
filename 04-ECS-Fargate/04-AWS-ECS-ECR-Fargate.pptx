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8" r:id="rId4"/>
    <p:sldId id="258" r:id="rId5"/>
    <p:sldId id="259" r:id="rId6"/>
    <p:sldId id="260" r:id="rId7"/>
    <p:sldId id="261" r:id="rId8"/>
    <p:sldId id="277" r:id="rId9"/>
    <p:sldId id="262" r:id="rId10"/>
    <p:sldId id="263" r:id="rId11"/>
    <p:sldId id="264" r:id="rId12"/>
    <p:sldId id="266" r:id="rId13"/>
    <p:sldId id="276" r:id="rId14"/>
    <p:sldId id="267" r:id="rId15"/>
    <p:sldId id="272" r:id="rId16"/>
    <p:sldId id="274" r:id="rId17"/>
    <p:sldId id="275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4027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0DF0E-0DF0-EFBE-8146-3C48EFAD7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E4DE85-1CDF-EE60-F222-9477457BD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2C909-FAE9-A2DA-005B-880CE033EA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B7384-C43A-D588-7C30-AA3F16CA3D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47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74320"/>
            <a:ext cx="1097280" cy="109728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731520"/>
            <a:ext cx="1371600" cy="1371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Container Services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 •  ECS  •  Fargate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Docker Images to Production Deployment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2471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069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Orchestration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" y="1325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orchestration? The journey from Docker to ECS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71907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097280" y="19202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private Docker Hub - push, scan &amp; manage images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2402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31343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2258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ECS Deep Dive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097280" y="25146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Tasks, services, clusters &amp; compute options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2907792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97280" y="2852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 Mode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097280" y="31089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containers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342900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532632"/>
            <a:ext cx="365760" cy="36576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31" name="Text 23"/>
          <p:cNvSpPr/>
          <p:nvPr/>
        </p:nvSpPr>
        <p:spPr>
          <a:xfrm>
            <a:off x="1097280" y="3477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Labs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1097280" y="37338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Full ECS + Fargate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Docker / Compose vs ECS - What Changes?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Docker / Docker Compose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484632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5966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ECS with Fargate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R1L"/>
          <p:cNvSpPr/>
          <p:nvPr/>
        </p:nvSpPr>
        <p:spPr>
          <a:xfrm>
            <a:off x="457200" y="1371600"/>
            <a:ext cx="3840480" cy="292608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R1L"/>
          <p:cNvSpPr/>
          <p:nvPr/>
        </p:nvSpPr>
        <p:spPr>
          <a:xfrm>
            <a:off x="640080" y="13716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✗  Single machine only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R1R"/>
          <p:cNvSpPr/>
          <p:nvPr/>
        </p:nvSpPr>
        <p:spPr>
          <a:xfrm>
            <a:off x="4846320" y="1371600"/>
            <a:ext cx="3840480" cy="292608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g R1R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403604"/>
            <a:ext cx="228600" cy="228600"/>
          </a:xfrm>
          <a:prstGeom prst="rect">
            <a:avLst/>
          </a:prstGeom>
        </p:spPr>
      </p:pic>
      <p:sp>
        <p:nvSpPr>
          <p:cNvPr id="14" name="Text R1R"/>
          <p:cNvSpPr/>
          <p:nvPr/>
        </p:nvSpPr>
        <p:spPr>
          <a:xfrm>
            <a:off x="5303520" y="1371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Multi-AZ cluster, survives AZ failures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R2L"/>
          <p:cNvSpPr/>
          <p:nvPr/>
        </p:nvSpPr>
        <p:spPr>
          <a:xfrm>
            <a:off x="457200" y="1728216"/>
            <a:ext cx="3840480" cy="292608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R2L"/>
          <p:cNvSpPr/>
          <p:nvPr/>
        </p:nvSpPr>
        <p:spPr>
          <a:xfrm>
            <a:off x="640080" y="17282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✗  Container dies at 3 AM? Stays dead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R2R"/>
          <p:cNvSpPr/>
          <p:nvPr/>
        </p:nvSpPr>
        <p:spPr>
          <a:xfrm>
            <a:off x="4846320" y="1728216"/>
            <a:ext cx="3840480" cy="292608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Img R2R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760220"/>
            <a:ext cx="228600" cy="228600"/>
          </a:xfrm>
          <a:prstGeom prst="rect">
            <a:avLst/>
          </a:prstGeom>
        </p:spPr>
      </p:pic>
      <p:sp>
        <p:nvSpPr>
          <p:cNvPr id="24" name="Text R2R"/>
          <p:cNvSpPr/>
          <p:nvPr/>
        </p:nvSpPr>
        <p:spPr>
          <a:xfrm>
            <a:off x="5303520" y="17282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ECS Service auto-replaces failed tasks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R3L"/>
          <p:cNvSpPr/>
          <p:nvPr/>
        </p:nvSpPr>
        <p:spPr>
          <a:xfrm>
            <a:off x="457200" y="2084832"/>
            <a:ext cx="3840480" cy="292608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R3L"/>
          <p:cNvSpPr/>
          <p:nvPr/>
        </p:nvSpPr>
        <p:spPr>
          <a:xfrm>
            <a:off x="640080" y="20848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scaling with docker run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R3R"/>
          <p:cNvSpPr/>
          <p:nvPr/>
        </p:nvSpPr>
        <p:spPr>
          <a:xfrm>
            <a:off x="4846320" y="2084832"/>
            <a:ext cx="3840480" cy="292608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Img R3R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116836"/>
            <a:ext cx="228600" cy="228600"/>
          </a:xfrm>
          <a:prstGeom prst="rect">
            <a:avLst/>
          </a:prstGeom>
        </p:spPr>
      </p:pic>
      <p:sp>
        <p:nvSpPr>
          <p:cNvPr id="34" name="Text R3R"/>
          <p:cNvSpPr/>
          <p:nvPr/>
        </p:nvSpPr>
        <p:spPr>
          <a:xfrm>
            <a:off x="5303520" y="20848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on CPU, memory, or requests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R4L"/>
          <p:cNvSpPr/>
          <p:nvPr/>
        </p:nvSpPr>
        <p:spPr>
          <a:xfrm>
            <a:off x="457200" y="2441448"/>
            <a:ext cx="3840480" cy="292608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R4L"/>
          <p:cNvSpPr/>
          <p:nvPr/>
        </p:nvSpPr>
        <p:spPr>
          <a:xfrm>
            <a:off x="640080" y="24414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✗  One IP, no load balancing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R4R"/>
          <p:cNvSpPr/>
          <p:nvPr/>
        </p:nvSpPr>
        <p:spPr>
          <a:xfrm>
            <a:off x="4846320" y="2441448"/>
            <a:ext cx="3840480" cy="292608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3" name="Img R4R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473452"/>
            <a:ext cx="228600" cy="228600"/>
          </a:xfrm>
          <a:prstGeom prst="rect">
            <a:avLst/>
          </a:prstGeom>
        </p:spPr>
      </p:pic>
      <p:sp>
        <p:nvSpPr>
          <p:cNvPr id="44" name="Text R4R"/>
          <p:cNvSpPr/>
          <p:nvPr/>
        </p:nvSpPr>
        <p:spPr>
          <a:xfrm>
            <a:off x="5303520" y="24414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ALB distributes traffic across tasks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R5L"/>
          <p:cNvSpPr/>
          <p:nvPr/>
        </p:nvSpPr>
        <p:spPr>
          <a:xfrm>
            <a:off x="457200" y="2798064"/>
            <a:ext cx="3840480" cy="292608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R5L"/>
          <p:cNvSpPr/>
          <p:nvPr/>
        </p:nvSpPr>
        <p:spPr>
          <a:xfrm>
            <a:off x="640080" y="27980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✗  Downtime during docker-compose up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R5R"/>
          <p:cNvSpPr/>
          <p:nvPr/>
        </p:nvSpPr>
        <p:spPr>
          <a:xfrm>
            <a:off x="4846320" y="2798064"/>
            <a:ext cx="3840480" cy="292608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3" name="Img R5R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830068"/>
            <a:ext cx="228600" cy="228600"/>
          </a:xfrm>
          <a:prstGeom prst="rect">
            <a:avLst/>
          </a:prstGeom>
        </p:spPr>
      </p:pic>
      <p:sp>
        <p:nvSpPr>
          <p:cNvPr id="54" name="Text R5R"/>
          <p:cNvSpPr/>
          <p:nvPr/>
        </p:nvSpPr>
        <p:spPr>
          <a:xfrm>
            <a:off x="5303520" y="27980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rolling &amp; blue/green deploys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R6L"/>
          <p:cNvSpPr/>
          <p:nvPr/>
        </p:nvSpPr>
        <p:spPr>
          <a:xfrm>
            <a:off x="457200" y="3154680"/>
            <a:ext cx="3840480" cy="292608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R6L"/>
          <p:cNvSpPr/>
          <p:nvPr/>
        </p:nvSpPr>
        <p:spPr>
          <a:xfrm>
            <a:off x="640080" y="31546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✗  SSH into host, run docker logs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Shape R6R"/>
          <p:cNvSpPr/>
          <p:nvPr/>
        </p:nvSpPr>
        <p:spPr>
          <a:xfrm>
            <a:off x="4846320" y="3154680"/>
            <a:ext cx="3840480" cy="292608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3" name="Img R6R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186684"/>
            <a:ext cx="228600" cy="228600"/>
          </a:xfrm>
          <a:prstGeom prst="rect">
            <a:avLst/>
          </a:prstGeom>
        </p:spPr>
      </p:pic>
      <p:sp>
        <p:nvSpPr>
          <p:cNvPr id="64" name="Text R6R"/>
          <p:cNvSpPr/>
          <p:nvPr/>
        </p:nvSpPr>
        <p:spPr>
          <a:xfrm>
            <a:off x="5303520" y="31546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CloudWatch logs &amp; metrics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Shape R7L"/>
          <p:cNvSpPr/>
          <p:nvPr/>
        </p:nvSpPr>
        <p:spPr>
          <a:xfrm>
            <a:off x="457200" y="3511296"/>
            <a:ext cx="3840480" cy="292608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R7L"/>
          <p:cNvSpPr/>
          <p:nvPr/>
        </p:nvSpPr>
        <p:spPr>
          <a:xfrm>
            <a:off x="640080" y="351129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✗  You manage the host OS, patching, disk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Shape R7R"/>
          <p:cNvSpPr/>
          <p:nvPr/>
        </p:nvSpPr>
        <p:spPr>
          <a:xfrm>
            <a:off x="4846320" y="3511296"/>
            <a:ext cx="3840480" cy="292608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3" name="Img R7R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543300"/>
            <a:ext cx="228600" cy="228600"/>
          </a:xfrm>
          <a:prstGeom prst="rect">
            <a:avLst/>
          </a:prstGeom>
        </p:spPr>
      </p:pic>
      <p:sp>
        <p:nvSpPr>
          <p:cNvPr id="74" name="Text R7R"/>
          <p:cNvSpPr/>
          <p:nvPr/>
        </p:nvSpPr>
        <p:spPr>
          <a:xfrm>
            <a:off x="5303520" y="35112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Fargate = serverless, zero host management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Shape Banner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Text Banner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Docker runs containers. ECS makes them production-ready.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Why Container Orchestration?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Orchestration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3840480" cy="32004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container management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938528"/>
            <a:ext cx="3840480" cy="32004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40080" y="19385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auto-scaling or healing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322576"/>
            <a:ext cx="3840480" cy="32004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40080" y="23225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Complex networking setup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706624"/>
            <a:ext cx="3840480" cy="32004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40080" y="27066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Downtime during deployments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090672"/>
            <a:ext cx="3840480" cy="32004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40080" y="30906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centralized monitoring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Orchestration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846320" y="1554480"/>
            <a:ext cx="3840480" cy="32004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600200"/>
            <a:ext cx="228600" cy="2286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0352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scheduling &amp; placement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846320" y="1938528"/>
            <a:ext cx="3840480" cy="32004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984248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303520" y="19385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&amp; self-healing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846320" y="2322576"/>
            <a:ext cx="3840480" cy="32004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368296"/>
            <a:ext cx="228600" cy="2286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03520" y="23225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discovery &amp; load balancing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2706624"/>
            <a:ext cx="3840480" cy="32004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752344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03520" y="27066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&amp; canary deployments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846320" y="3090672"/>
            <a:ext cx="3840480" cy="32004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36392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303520" y="3090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logs &amp; metrics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25"/>
          <p:cNvSpPr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handles 2.4 billion tasks/week globally - significant new AWS container users choose ECS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" y="2133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AWS Container Ecosystem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26060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260604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1325880"/>
            <a:ext cx="640080" cy="640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4360" y="2057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ECR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94360" y="2331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Registry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743200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27432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 manage images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090672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5840" y="30906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scanning</a:t>
            </a:r>
            <a:endParaRPr lang="en-US" sz="11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438144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05840" y="34381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policies</a:t>
            </a:r>
            <a:endParaRPr lang="en-US" sz="11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785616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05840" y="378561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 replication</a:t>
            </a:r>
            <a:endParaRPr lang="en-US" sz="1100" dirty="0"/>
          </a:p>
        </p:txBody>
      </p:sp>
      <p:sp>
        <p:nvSpPr>
          <p:cNvPr id="18" name="Shape 10"/>
          <p:cNvSpPr/>
          <p:nvPr/>
        </p:nvSpPr>
        <p:spPr>
          <a:xfrm>
            <a:off x="3337560" y="1097280"/>
            <a:ext cx="26060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1"/>
          <p:cNvSpPr/>
          <p:nvPr/>
        </p:nvSpPr>
        <p:spPr>
          <a:xfrm>
            <a:off x="3337560" y="1097280"/>
            <a:ext cx="2606040" cy="731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1325880"/>
            <a:ext cx="640080" cy="64008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3474720" y="2057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ECS</a:t>
            </a:r>
            <a:endParaRPr lang="en-US" sz="1600" dirty="0"/>
          </a:p>
        </p:txBody>
      </p:sp>
      <p:sp>
        <p:nvSpPr>
          <p:cNvPr id="22" name="Text 13"/>
          <p:cNvSpPr/>
          <p:nvPr/>
        </p:nvSpPr>
        <p:spPr>
          <a:xfrm>
            <a:off x="3474720" y="2331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2743200"/>
            <a:ext cx="182880" cy="18288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886200" y="27432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definitions</a:t>
            </a:r>
            <a:endParaRPr lang="en-US" sz="11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090672"/>
            <a:ext cx="182880" cy="18288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3886200" y="30906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management</a:t>
            </a:r>
            <a:endParaRPr lang="en-US" sz="110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438144"/>
            <a:ext cx="182880" cy="18288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3886200" y="34381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</a:t>
            </a:r>
            <a:endParaRPr lang="en-US" sz="110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785616"/>
            <a:ext cx="182880" cy="182880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3886200" y="378561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</a:t>
            </a:r>
            <a:endParaRPr lang="en-US" sz="1100" dirty="0"/>
          </a:p>
        </p:txBody>
      </p:sp>
      <p:sp>
        <p:nvSpPr>
          <p:cNvPr id="31" name="Shape 18"/>
          <p:cNvSpPr/>
          <p:nvPr/>
        </p:nvSpPr>
        <p:spPr>
          <a:xfrm>
            <a:off x="6217920" y="1097280"/>
            <a:ext cx="26060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19"/>
          <p:cNvSpPr/>
          <p:nvPr/>
        </p:nvSpPr>
        <p:spPr>
          <a:xfrm>
            <a:off x="6217920" y="1097280"/>
            <a:ext cx="260604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040" y="1325880"/>
            <a:ext cx="640080" cy="64008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6355080" y="2057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Fargate</a:t>
            </a:r>
            <a:endParaRPr lang="en-US" sz="1600" dirty="0"/>
          </a:p>
        </p:txBody>
      </p:sp>
      <p:sp>
        <p:nvSpPr>
          <p:cNvPr id="35" name="Text 21"/>
          <p:cNvSpPr/>
          <p:nvPr/>
        </p:nvSpPr>
        <p:spPr>
          <a:xfrm>
            <a:off x="6355080" y="2331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Compute</a:t>
            </a:r>
            <a:endParaRPr lang="en-US" sz="1100" dirty="0"/>
          </a:p>
        </p:txBody>
      </p:sp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743200"/>
            <a:ext cx="182880" cy="182880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6766560" y="27432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management</a:t>
            </a:r>
            <a:endParaRPr lang="en-US" sz="1100" dirty="0"/>
          </a:p>
        </p:txBody>
      </p:sp>
      <p:pic>
        <p:nvPicPr>
          <p:cNvPr id="38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090672"/>
            <a:ext cx="182880" cy="182880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6766560" y="30906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per task</a:t>
            </a:r>
            <a:endParaRPr lang="en-US" sz="1100" dirty="0"/>
          </a:p>
        </p:txBody>
      </p:sp>
      <p:pic>
        <p:nvPicPr>
          <p:cNvPr id="40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438144"/>
            <a:ext cx="182880" cy="182880"/>
          </a:xfrm>
          <a:prstGeom prst="rect">
            <a:avLst/>
          </a:prstGeom>
        </p:spPr>
      </p:pic>
      <p:sp>
        <p:nvSpPr>
          <p:cNvPr id="41" name="Text 24"/>
          <p:cNvSpPr/>
          <p:nvPr/>
        </p:nvSpPr>
        <p:spPr>
          <a:xfrm>
            <a:off x="6766560" y="34381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scaling</a:t>
            </a:r>
            <a:endParaRPr lang="en-US" sz="1100" dirty="0"/>
          </a:p>
        </p:txBody>
      </p:sp>
      <p:pic>
        <p:nvPicPr>
          <p:cNvPr id="42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785616"/>
            <a:ext cx="182880" cy="182880"/>
          </a:xfrm>
          <a:prstGeom prst="rect">
            <a:avLst/>
          </a:prstGeom>
        </p:spPr>
      </p:pic>
      <p:sp>
        <p:nvSpPr>
          <p:cNvPr id="43" name="Text 25"/>
          <p:cNvSpPr/>
          <p:nvPr/>
        </p:nvSpPr>
        <p:spPr>
          <a:xfrm>
            <a:off x="6766560" y="378561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security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Amazon ECR - Your Private Docker Hub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Workflow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Docker to ECR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05840" y="1847088"/>
            <a:ext cx="347472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097280" y="18470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ecr get-login-password | docker login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548640" y="233172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4864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0584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your image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05840" y="2624328"/>
            <a:ext cx="347472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1097280" y="2624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tag myapp:latest &lt;acct&gt;.dkr.ecr.&lt;region&gt;.amazonaws.com/myapp:latest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48640" y="310896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4864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0584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ECR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005840" y="3401568"/>
            <a:ext cx="347472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1097280" y="34015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push &lt;acct&gt;.dkr.ecr.&lt;region&gt;.amazonaws.com/myapp:latest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1" name="Shape 18"/>
          <p:cNvSpPr/>
          <p:nvPr/>
        </p:nvSpPr>
        <p:spPr>
          <a:xfrm>
            <a:off x="548640" y="388620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548640" y="3886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005840" y="3886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from anywhere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1005840" y="4178808"/>
            <a:ext cx="347472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1097280" y="41788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&lt;acct&gt;.dkr.ecr.&lt;region&gt;.amazonaws.com/myapp:latest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6" name="Text 23"/>
          <p:cNvSpPr/>
          <p:nvPr/>
        </p:nvSpPr>
        <p:spPr>
          <a:xfrm>
            <a:off x="484632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846320" y="1554480"/>
            <a:ext cx="384048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645920"/>
            <a:ext cx="292608" cy="29260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394960" y="15727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Scanning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394960" y="18013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vulnerabilities automatically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846320" y="2148840"/>
            <a:ext cx="384048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240280"/>
            <a:ext cx="292608" cy="29260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394960" y="21671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Policies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5394960" y="23957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Auto-cleanup old/untagged images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4846320" y="2743200"/>
            <a:ext cx="384048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2834640"/>
            <a:ext cx="292608" cy="29260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394960" y="27614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5394960" y="29900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rest (KMS) &amp; in transit (TLS)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4846320" y="3337560"/>
            <a:ext cx="384048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3429000"/>
            <a:ext cx="292608" cy="29260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394960" y="33558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Auth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5394960" y="35844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access control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4846320" y="3931920"/>
            <a:ext cx="384048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4023360"/>
            <a:ext cx="292608" cy="292608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5394960" y="395020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</a:t>
            </a:r>
            <a:endParaRPr lang="en-US" sz="1200" dirty="0"/>
          </a:p>
        </p:txBody>
      </p:sp>
      <p:sp>
        <p:nvSpPr>
          <p:cNvPr id="46" name="Text 38"/>
          <p:cNvSpPr/>
          <p:nvPr/>
        </p:nvSpPr>
        <p:spPr>
          <a:xfrm>
            <a:off x="5394960" y="41788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images globally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Amazon ECS - Core Concepts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64008" cy="1645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28016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234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Definition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85800" y="18288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for your container - image, CPU, memory, ports, env vars, volumes. Like a docker-compose.yml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754880" y="10972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4754880" y="1097280"/>
            <a:ext cx="64008" cy="1645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28016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77840" y="1234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288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instance of a task definition. One or more containers working together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29260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457200" y="2926080"/>
            <a:ext cx="64008" cy="16459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10896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85800" y="36576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desired number of tasks. Handles load balancing, rolling updates &amp; auto-scaling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754880" y="29260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4754880" y="2926080"/>
            <a:ext cx="64008" cy="16459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310896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577840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4983480" y="36576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grouping of tasks and services. Can span multiple AZs for high availability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122314-BEB2-CFAA-B3EB-9678B5F48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DD7A689-C4A3-25B1-050F-F0A0033E8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502920" cy="50292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1C00AD93-F33C-A726-823A-478D555E754C}"/>
              </a:ext>
            </a:extLst>
          </p:cNvPr>
          <p:cNvSpPr/>
          <p:nvPr/>
        </p:nvSpPr>
        <p:spPr>
          <a:xfrm>
            <a:off x="109728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Amazon ECS – The Differentiators</a:t>
            </a:r>
            <a:endParaRPr lang="en-US" sz="30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C9D7DB7C-AE7D-1538-FF2E-83E5D3846691}"/>
              </a:ext>
            </a:extLst>
          </p:cNvPr>
          <p:cNvSpPr/>
          <p:nvPr/>
        </p:nvSpPr>
        <p:spPr>
          <a:xfrm>
            <a:off x="457200" y="10972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0942C582-F6D0-A963-D60D-18F560EECAE5}"/>
              </a:ext>
            </a:extLst>
          </p:cNvPr>
          <p:cNvSpPr/>
          <p:nvPr/>
        </p:nvSpPr>
        <p:spPr>
          <a:xfrm>
            <a:off x="457200" y="1097280"/>
            <a:ext cx="64008" cy="1645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352933D7-D943-BE15-96FB-D92AA63A55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280160"/>
            <a:ext cx="457200" cy="45720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57CEC61B-5797-2D96-A710-057693C65FCB}"/>
              </a:ext>
            </a:extLst>
          </p:cNvPr>
          <p:cNvSpPr/>
          <p:nvPr/>
        </p:nvSpPr>
        <p:spPr>
          <a:xfrm>
            <a:off x="1280160" y="1234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Definition</a:t>
            </a:r>
            <a:endParaRPr lang="en-US" sz="16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AC4B4B24-2B9D-5BC6-F4DE-40530D247CC4}"/>
              </a:ext>
            </a:extLst>
          </p:cNvPr>
          <p:cNvSpPr/>
          <p:nvPr/>
        </p:nvSpPr>
        <p:spPr>
          <a:xfrm>
            <a:off x="685800" y="18288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for your container - image, CPU, memory, ports, env vars, volumes. Like a docker-compose.yml</a:t>
            </a:r>
            <a:endParaRPr lang="en-US" sz="11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766BE026-D374-6949-8646-6DBB8464AFBD}"/>
              </a:ext>
            </a:extLst>
          </p:cNvPr>
          <p:cNvSpPr/>
          <p:nvPr/>
        </p:nvSpPr>
        <p:spPr>
          <a:xfrm>
            <a:off x="4754880" y="10972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A599792A-D723-4C89-4D13-EFE8282EC892}"/>
              </a:ext>
            </a:extLst>
          </p:cNvPr>
          <p:cNvSpPr/>
          <p:nvPr/>
        </p:nvSpPr>
        <p:spPr>
          <a:xfrm>
            <a:off x="4754880" y="1097280"/>
            <a:ext cx="64008" cy="1645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5DB763C7-CFA0-E528-B77E-55397D0315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280160"/>
            <a:ext cx="457200" cy="45720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0DE9CCCE-ECDC-96B6-4E3D-5AB34CF62339}"/>
              </a:ext>
            </a:extLst>
          </p:cNvPr>
          <p:cNvSpPr/>
          <p:nvPr/>
        </p:nvSpPr>
        <p:spPr>
          <a:xfrm>
            <a:off x="5577840" y="1234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6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A5FE799F-ACCD-6909-DDDB-64D3789082C0}"/>
              </a:ext>
            </a:extLst>
          </p:cNvPr>
          <p:cNvSpPr/>
          <p:nvPr/>
        </p:nvSpPr>
        <p:spPr>
          <a:xfrm>
            <a:off x="4983480" y="18288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instance of a task definition. One or more containers working together</a:t>
            </a:r>
            <a:endParaRPr lang="en-US" sz="11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CF31E30F-DDC0-4BD5-2A45-3C20E602F64D}"/>
              </a:ext>
            </a:extLst>
          </p:cNvPr>
          <p:cNvSpPr/>
          <p:nvPr/>
        </p:nvSpPr>
        <p:spPr>
          <a:xfrm>
            <a:off x="457200" y="29260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AED38B86-3354-14F3-5C5B-6CF4693352E9}"/>
              </a:ext>
            </a:extLst>
          </p:cNvPr>
          <p:cNvSpPr/>
          <p:nvPr/>
        </p:nvSpPr>
        <p:spPr>
          <a:xfrm>
            <a:off x="457200" y="2926080"/>
            <a:ext cx="64008" cy="16459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4E389627-D79B-9062-2A6F-F015C54463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108960"/>
            <a:ext cx="457200" cy="457200"/>
          </a:xfrm>
          <a:prstGeom prst="rect">
            <a:avLst/>
          </a:prstGeom>
        </p:spPr>
      </p:pic>
      <p:sp>
        <p:nvSpPr>
          <p:cNvPr id="18" name="Text 12">
            <a:extLst>
              <a:ext uri="{FF2B5EF4-FFF2-40B4-BE49-F238E27FC236}">
                <a16:creationId xmlns:a16="http://schemas.microsoft.com/office/drawing/2014/main" id="{F6FA2084-9FC6-782E-1D81-C219D5E76A96}"/>
              </a:ext>
            </a:extLst>
          </p:cNvPr>
          <p:cNvSpPr/>
          <p:nvPr/>
        </p:nvSpPr>
        <p:spPr>
          <a:xfrm>
            <a:off x="1280160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6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16C1D08D-C09B-DB45-F030-4B9AE826E5AE}"/>
              </a:ext>
            </a:extLst>
          </p:cNvPr>
          <p:cNvSpPr/>
          <p:nvPr/>
        </p:nvSpPr>
        <p:spPr>
          <a:xfrm>
            <a:off x="685800" y="36576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desired number of tasks. Handles load balancing, rolling updates &amp; auto-scaling</a:t>
            </a:r>
            <a:endParaRPr lang="en-US" sz="110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BEE9BD21-2DB3-3882-C54E-667821C9841A}"/>
              </a:ext>
            </a:extLst>
          </p:cNvPr>
          <p:cNvSpPr/>
          <p:nvPr/>
        </p:nvSpPr>
        <p:spPr>
          <a:xfrm>
            <a:off x="4754880" y="29260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786654AC-13FC-F258-2D3C-7DDBE2F56513}"/>
              </a:ext>
            </a:extLst>
          </p:cNvPr>
          <p:cNvSpPr/>
          <p:nvPr/>
        </p:nvSpPr>
        <p:spPr>
          <a:xfrm>
            <a:off x="4754880" y="2926080"/>
            <a:ext cx="64008" cy="16459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>
            <a:extLst>
              <a:ext uri="{FF2B5EF4-FFF2-40B4-BE49-F238E27FC236}">
                <a16:creationId xmlns:a16="http://schemas.microsoft.com/office/drawing/2014/main" id="{91798067-5EAF-50FB-C247-A4B8032D0E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3108960"/>
            <a:ext cx="457200" cy="457200"/>
          </a:xfrm>
          <a:prstGeom prst="rect">
            <a:avLst/>
          </a:prstGeom>
        </p:spPr>
      </p:pic>
      <p:sp>
        <p:nvSpPr>
          <p:cNvPr id="23" name="Text 16">
            <a:extLst>
              <a:ext uri="{FF2B5EF4-FFF2-40B4-BE49-F238E27FC236}">
                <a16:creationId xmlns:a16="http://schemas.microsoft.com/office/drawing/2014/main" id="{63638511-56C7-A6E5-E8D4-950A465FC880}"/>
              </a:ext>
            </a:extLst>
          </p:cNvPr>
          <p:cNvSpPr/>
          <p:nvPr/>
        </p:nvSpPr>
        <p:spPr>
          <a:xfrm>
            <a:off x="5577840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60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9B9EC589-4665-76AA-4425-EA46A6DD745D}"/>
              </a:ext>
            </a:extLst>
          </p:cNvPr>
          <p:cNvSpPr/>
          <p:nvPr/>
        </p:nvSpPr>
        <p:spPr>
          <a:xfrm>
            <a:off x="4983480" y="36576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grouping of tasks and services. Can span multiple AZs for high availability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41345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ECS Compute Options - Where to Run?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20040" y="1097280"/>
            <a:ext cx="26974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320040" y="1097280"/>
            <a:ext cx="2697480" cy="6400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11480" y="11155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on EC2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11480" y="1417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19202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control over instances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22677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GPU / high-memory support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26151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Cost-effective (steady state)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309981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You manage EC2 instances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344728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Patching &amp; scaling is manual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0" y="1097280"/>
            <a:ext cx="26974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3200400" y="1097280"/>
            <a:ext cx="2697480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3291840" y="11155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291840" y="1417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 ⭐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337560" y="19202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server management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337560" y="22677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Pay only for running tasks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337560" y="26151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Automatic scaling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337560" y="296265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Built-in security isolation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337560" y="344728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Limited instance types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080760" y="1097280"/>
            <a:ext cx="26974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6080760" y="1097280"/>
            <a:ext cx="2697480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6172200" y="11155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Instances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172200" y="1417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2025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217920" y="19202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AWS manages EC2 for you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217920" y="22677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EC2 capabilities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217920" y="26151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 patching &amp; optimization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217920" y="309981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Slightly higher cost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AWS Fargate - Serverless Containers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Fargate Works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960120" y="14630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9601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Task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2331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memory, image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51760" y="14630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26517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14884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148840" y="2331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 auto-allocates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343400" y="14630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3434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84048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840480" y="2331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executes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35040" y="14630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0350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53212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532120" y="2331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up/down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726680" y="14630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77266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22376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223760" y="2331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second billing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640080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40080" y="3182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users prefer Fargate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383280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3383280" y="3182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to manage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126480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~$35/mo</a:t>
            </a: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126480" y="3182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vCPU + 2GB 24/7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57200" y="4023360"/>
            <a:ext cx="19202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457200" y="4023360"/>
            <a:ext cx="192024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548640" y="40965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Microservices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2560320" y="4023360"/>
            <a:ext cx="19202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5"/>
          <p:cNvSpPr/>
          <p:nvPr/>
        </p:nvSpPr>
        <p:spPr>
          <a:xfrm>
            <a:off x="2560320" y="4023360"/>
            <a:ext cx="192024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2651760" y="40965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663440" y="4023360"/>
            <a:ext cx="19202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8"/>
          <p:cNvSpPr/>
          <p:nvPr/>
        </p:nvSpPr>
        <p:spPr>
          <a:xfrm>
            <a:off x="4663440" y="4023360"/>
            <a:ext cx="192024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4754880" y="40965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766560" y="4023360"/>
            <a:ext cx="19202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1"/>
          <p:cNvSpPr/>
          <p:nvPr/>
        </p:nvSpPr>
        <p:spPr>
          <a:xfrm>
            <a:off x="6766560" y="4023360"/>
            <a:ext cx="192024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6858000" y="40965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Apps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Fargate vs EC2 - Decision Guide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200400" y="1051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  ⭐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0" y="1051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4864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Management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0040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- fully managed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 &amp; patch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1901952"/>
            <a:ext cx="8229600" cy="411480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48640" y="19019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00400" y="19019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task-level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43600" y="19019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 ASG setup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2340864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48640" y="23408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Types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200400" y="234086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(vCPU/memory)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943600" y="234086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EC2 catalog (GPU)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2779776"/>
            <a:ext cx="8229600" cy="411480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548640" y="27797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200400" y="27797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per task-second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943600" y="27797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per EC2 instance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" y="3218688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548640" y="32186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Isolation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200400" y="32186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Micro-VM per task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943600" y="32186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host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548640" y="3657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Time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200400" y="3657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~30-60 seconds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943600" y="3657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(if scaling)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57200" y="4096512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548640" y="40965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200400" y="40965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workloads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943600" y="40965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Steady-state, GPU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Task Definition - The Blueprint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5029200" cy="365760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"family": "my-web-app",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"cpu": "256",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"memory": "512",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"networkMode": "awsvpc",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"requiresCompatibilities": ["FARGATE"],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"containerDefinitions": [{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"web",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"image": "&lt;acct&gt;.</a:t>
            </a:r>
            <a:r>
              <a:rPr lang="en-US" sz="900" dirty="0" err="1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dkr.ecr</a:t>
            </a: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.../</a:t>
            </a:r>
            <a:r>
              <a:rPr lang="en-US" sz="900" dirty="0" err="1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myapp:latest</a:t>
            </a: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"portMappings": [{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"containerPort": 5000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6072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60720" y="1554480"/>
            <a:ext cx="30175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852160" y="15819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family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8013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name for your task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2148840"/>
            <a:ext cx="30175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852160" y="217627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</a:t>
            </a: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memory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52160" y="23957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 (Fargate sizes)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0" y="2743200"/>
            <a:ext cx="30175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852160" y="27706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networkMode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52160" y="29900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awsvpc = each task gets its own ENI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60720" y="3337560"/>
            <a:ext cx="30175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852160" y="33649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852160" y="35844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repository URI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760720" y="3931920"/>
            <a:ext cx="30175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5852160" y="39593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portMappings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852160" y="41788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port to expose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ECS Service - Deep Dive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3931920" cy="640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Service Do?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1737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Maintains desired count of running tasks (e.g. 3 replicas)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94560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2148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Auto-replaces unhealthy tasks (self-healing)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06040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2560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ALB/NLB for traffic distribution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17520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440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Handles rolling updates &amp; blue/green deployments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29000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14400" y="3383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Supports auto-scaling (target tracking &amp; step policies)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40480"/>
            <a:ext cx="182880" cy="18288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14400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discovery via AWS Cloud Map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1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2"/>
          <p:cNvSpPr/>
          <p:nvPr/>
        </p:nvSpPr>
        <p:spPr>
          <a:xfrm>
            <a:off x="4754880" y="1097280"/>
            <a:ext cx="3931920" cy="640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3"/>
          <p:cNvSpPr/>
          <p:nvPr/>
        </p:nvSpPr>
        <p:spPr>
          <a:xfrm>
            <a:off x="493776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Configuration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783080"/>
            <a:ext cx="182880" cy="18288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212080" y="1737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Desired Count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- How many task copies to run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194560"/>
            <a:ext cx="182880" cy="18288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212080" y="2148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Min Healthy %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- Tasks kept alive during deploy (100%)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606040"/>
            <a:ext cx="182880" cy="18288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212080" y="2560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Max %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- Max tasks allowed during deploy (200%)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017520"/>
            <a:ext cx="182880" cy="182880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521208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Grace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- Wait time before checking health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429000"/>
            <a:ext cx="182880" cy="182880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5212080" y="3383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Type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- Rolling update or Blue/Green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840480"/>
            <a:ext cx="182880" cy="182880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5212080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Task vs Service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- Task = one-off, Service = long-running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&amp; Load Balancing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3931920" cy="640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008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Networking (awsvpc)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783080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1737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 gets its own Elastic Network Interface (ENI)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194560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2148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IP address per task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06040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2560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 at task level</a:t>
            </a:r>
            <a:endParaRPr lang="en-US" sz="10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017520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440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integration - private subnets recommended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429000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14400" y="3383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PrivateLink for no internet exposure</a:t>
            </a:r>
            <a:endParaRPr lang="en-US" sz="10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40480"/>
            <a:ext cx="182880" cy="18288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14400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discovery via Cloud Map</a:t>
            </a:r>
            <a:endParaRPr lang="en-US" sz="1050" dirty="0"/>
          </a:p>
        </p:txBody>
      </p:sp>
      <p:sp>
        <p:nvSpPr>
          <p:cNvPr id="20" name="Shape 11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2"/>
          <p:cNvSpPr/>
          <p:nvPr/>
        </p:nvSpPr>
        <p:spPr>
          <a:xfrm>
            <a:off x="4754880" y="1097280"/>
            <a:ext cx="3931920" cy="6400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3"/>
          <p:cNvSpPr/>
          <p:nvPr/>
        </p:nvSpPr>
        <p:spPr>
          <a:xfrm>
            <a:off x="493776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Load Balancer</a:t>
            </a:r>
            <a:endParaRPr lang="en-US" sz="15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783080"/>
            <a:ext cx="182880" cy="18288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212080" y="1737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Distributes traffic across tasks</a:t>
            </a:r>
            <a:endParaRPr lang="en-US" sz="105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194560"/>
            <a:ext cx="182880" cy="18288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212080" y="2148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with auto-replacement</a:t>
            </a:r>
            <a:endParaRPr lang="en-US" sz="105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606040"/>
            <a:ext cx="182880" cy="18288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212080" y="2560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Path-based routing for microservices</a:t>
            </a:r>
            <a:endParaRPr lang="en-US" sz="105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017520"/>
            <a:ext cx="182880" cy="182880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521208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 termination (HTTPS)</a:t>
            </a:r>
            <a:endParaRPr lang="en-US" sz="1050" dirty="0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429000"/>
            <a:ext cx="182880" cy="182880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5212080" y="3383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sessions support</a:t>
            </a:r>
            <a:endParaRPr lang="en-US" sz="105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840480"/>
            <a:ext cx="182880" cy="182880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5212080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ECS service auto-scaling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Pricing - What You Pay For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40080" y="10515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Control Plane:  FREE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0" y="10515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pay for the compute (Fargate or EC2)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1965960"/>
            <a:ext cx="26974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02920" y="2057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2514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$0.10/GB/month storage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Data transfer out charges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3246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50GB free tier (12 months)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02920" y="3749040"/>
            <a:ext cx="2423160" cy="411480"/>
          </a:xfrm>
          <a:prstGeom prst="rect">
            <a:avLst/>
          </a:prstGeom>
          <a:solidFill>
            <a:srgbClr val="02C39A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94360" y="37490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~$1/mo for 10 images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46120" y="1965960"/>
            <a:ext cx="26974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3383280" y="2057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429000" y="2514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$0.04048/vCPU/hour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429000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$0.004445/GB/hour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429000" y="3246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Per-second billing (1 min minimum)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383280" y="3749040"/>
            <a:ext cx="2423160" cy="411480"/>
          </a:xfrm>
          <a:prstGeom prst="rect">
            <a:avLst/>
          </a:prstGeom>
          <a:solidFill>
            <a:srgbClr val="02C39A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3474720" y="37490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vCPU + 2GB ≈ $35/mo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126480" y="1965960"/>
            <a:ext cx="26974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263640" y="2057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Launch Type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309360" y="2514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Standard EC2 instance pricing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309360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Reserved &amp; Spot supported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309360" y="3246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Managed Instances: EC2 + mgmt fee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263640" y="3749040"/>
            <a:ext cx="2423160" cy="411480"/>
          </a:xfrm>
          <a:prstGeom prst="rect">
            <a:avLst/>
          </a:prstGeom>
          <a:solidFill>
            <a:srgbClr val="02C39A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6355080" y="37490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steady workloads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3200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Labs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579120" y="2103120"/>
            <a:ext cx="8107680" cy="22860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853440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Full ECS + Fargate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39446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Production Setup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577340" y="2926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Create ECS cluster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577340" y="3182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Write task definitions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577340" y="34381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Configure ALB &amp; security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577340" y="36941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Deploy ECS service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577340" y="39502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Set up auto-scaling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5486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Container Services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You’re now ready to deploy containers on AWS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3200400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880360" y="3200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-&gt; Store images securely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3547872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880360" y="35478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-&gt; Orchestrate at scale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3895344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880360" y="38953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 -&gt; Serverless compute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1289</Words>
  <Application>Microsoft Office PowerPoint</Application>
  <PresentationFormat>On-screen Show (16:9)</PresentationFormat>
  <Paragraphs>284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ECS, ECR &amp; Fargate Training</dc:title>
  <dc:subject>PptxGenJS Presentation</dc:subject>
  <dc:creator>AWS Container Training</dc:creator>
  <cp:lastModifiedBy>KubeCraft Technologies</cp:lastModifiedBy>
  <cp:revision>28</cp:revision>
  <dcterms:created xsi:type="dcterms:W3CDTF">2026-02-13T07:26:45Z</dcterms:created>
  <dcterms:modified xsi:type="dcterms:W3CDTF">2026-02-21T20:27:11Z</dcterms:modified>
</cp:coreProperties>
</file>
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1" r:id="rId3"/>
    <p:sldId id="258" r:id="rId4"/>
    <p:sldId id="259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57" r:id="rId15"/>
    <p:sldId id="274" r:id="rId16"/>
    <p:sldId id="275" r:id="rId17"/>
    <p:sldId id="260" r:id="rId18"/>
    <p:sldId id="276" r:id="rId19"/>
    <p:sldId id="277" r:id="rId20"/>
    <p:sldId id="278" r:id="rId21"/>
    <p:sldId id="268" r:id="rId22"/>
    <p:sldId id="269" r:id="rId23"/>
    <p:sldId id="27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031BCC-B845-41CD-8582-70912235F744}" v="7" dt="2026-02-06T18:20:31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Mohan" userId="77a2dff1-d756-46e3-a0b9-082fc1d2bd17" providerId="ADAL" clId="{E2654676-0C05-4358-BE33-21987F7BEE9B}"/>
    <pc:docChg chg="addSld delSld modSld">
      <pc:chgData name="Aryan Mohan" userId="77a2dff1-d756-46e3-a0b9-082fc1d2bd17" providerId="ADAL" clId="{E2654676-0C05-4358-BE33-21987F7BEE9B}" dt="2026-02-06T18:20:31.125" v="8"/>
      <pc:docMkLst>
        <pc:docMk/>
      </pc:docMkLst>
      <pc:sldChg chg="del">
        <pc:chgData name="Aryan Mohan" userId="77a2dff1-d756-46e3-a0b9-082fc1d2bd17" providerId="ADAL" clId="{E2654676-0C05-4358-BE33-21987F7BEE9B}" dt="2026-02-06T18:11:28.204" v="3" actId="47"/>
        <pc:sldMkLst>
          <pc:docMk/>
          <pc:sldMk cId="0" sldId="257"/>
        </pc:sldMkLst>
      </pc:sldChg>
      <pc:sldChg chg="del">
        <pc:chgData name="Aryan Mohan" userId="77a2dff1-d756-46e3-a0b9-082fc1d2bd17" providerId="ADAL" clId="{E2654676-0C05-4358-BE33-21987F7BEE9B}" dt="2026-02-06T18:20:20.411" v="5" actId="47"/>
        <pc:sldMkLst>
          <pc:docMk/>
          <pc:sldMk cId="0" sldId="260"/>
        </pc:sldMkLst>
      </pc:sldChg>
      <pc:sldChg chg="modSp add del setBg">
        <pc:chgData name="Aryan Mohan" userId="77a2dff1-d756-46e3-a0b9-082fc1d2bd17" providerId="ADAL" clId="{E2654676-0C05-4358-BE33-21987F7BEE9B}" dt="2026-02-06T18:12:06.388" v="4" actId="339"/>
        <pc:sldMkLst>
          <pc:docMk/>
          <pc:sldMk cId="0" sldId="271"/>
        </pc:sldMkLst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5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9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13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17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21" creationId="{00000000-0000-0000-0000-000000000000}"/>
          </ac:picMkLst>
        </pc:picChg>
      </pc:sldChg>
      <pc:sldChg chg="add del setBg">
        <pc:chgData name="Aryan Mohan" userId="77a2dff1-d756-46e3-a0b9-082fc1d2bd17" providerId="ADAL" clId="{E2654676-0C05-4358-BE33-21987F7BEE9B}" dt="2026-02-06T18:20:31.125" v="8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78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and Docker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fundamentals of containerization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243584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35024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Text 3"/>
          <p:cNvSpPr/>
          <p:nvPr/>
        </p:nvSpPr>
        <p:spPr>
          <a:xfrm>
            <a:off x="1554480" y="133502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problems containers solve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" y="1847088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14400" y="1901952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993392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0" name="Text 6"/>
          <p:cNvSpPr/>
          <p:nvPr/>
        </p:nvSpPr>
        <p:spPr>
          <a:xfrm>
            <a:off x="1554480" y="19933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 Docker architecture and core concepts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31520" y="2505456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651760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4" name="Text 9"/>
          <p:cNvSpPr/>
          <p:nvPr/>
        </p:nvSpPr>
        <p:spPr>
          <a:xfrm>
            <a:off x="1554480" y="2651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Master essential Docker commands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31520" y="3163824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914400" y="3218688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310128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8" name="Text 12"/>
          <p:cNvSpPr/>
          <p:nvPr/>
        </p:nvSpPr>
        <p:spPr>
          <a:xfrm>
            <a:off x="1554480" y="331012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your first container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41145" y="4409329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924025" y="4464193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465" y="4555633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2" name="Text 15"/>
          <p:cNvSpPr/>
          <p:nvPr/>
        </p:nvSpPr>
        <p:spPr>
          <a:xfrm>
            <a:off x="1564105" y="4555633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hands-on exercises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0F804D7E-677B-3E72-254F-51528A6CDE70}"/>
              </a:ext>
            </a:extLst>
          </p:cNvPr>
          <p:cNvSpPr/>
          <p:nvPr/>
        </p:nvSpPr>
        <p:spPr>
          <a:xfrm>
            <a:off x="739539" y="3791705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61A31B23-3969-EE65-FE99-320D0C8D5C92}"/>
              </a:ext>
            </a:extLst>
          </p:cNvPr>
          <p:cNvSpPr/>
          <p:nvPr/>
        </p:nvSpPr>
        <p:spPr>
          <a:xfrm>
            <a:off x="922419" y="3846569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FB702BB4-3F5D-80E0-5EAD-A11D9092A01E}"/>
              </a:ext>
            </a:extLst>
          </p:cNvPr>
          <p:cNvSpPr/>
          <p:nvPr/>
        </p:nvSpPr>
        <p:spPr>
          <a:xfrm>
            <a:off x="1562499" y="3938009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</a:t>
            </a: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Networks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2">
            <a:extLst>
              <a:ext uri="{FF2B5EF4-FFF2-40B4-BE49-F238E27FC236}">
                <a16:creationId xmlns:a16="http://schemas.microsoft.com/office/drawing/2014/main" id="{2085A913-A3CE-0C3F-6D96-0DDA549176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3937334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We’re Solving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71600" y="1234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“But it works on my machine!”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931920" cy="2560320"/>
          </a:xfrm>
          <a:prstGeom prst="rect">
            <a:avLst/>
          </a:prstGeom>
          <a:solidFill>
            <a:srgbClr val="FEE2E2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Deployment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environments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dependencies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replicate issues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deployment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configurations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103120"/>
            <a:ext cx="3931920" cy="2560320"/>
          </a:xfrm>
          <a:prstGeom prst="rect">
            <a:avLst/>
          </a:prstGeom>
          <a:solidFill>
            <a:srgbClr val="D1FAE5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Containers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20640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everywhere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dependencies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builds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deployment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independent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Containers?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97280" y="1280160"/>
            <a:ext cx="1828800" cy="182880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4480"/>
            <a:ext cx="1280160" cy="12801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Text 2"/>
          <p:cNvSpPr/>
          <p:nvPr/>
        </p:nvSpPr>
        <p:spPr>
          <a:xfrm>
            <a:off x="3383280" y="146304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portable, isolated environments that package your application with all its dependencies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3383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50" y="3645870"/>
            <a:ext cx="343501" cy="3435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639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77240" y="4069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anywhere - dev, test, production, cloud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83280" y="3383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383280" y="338328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783" y="3623383"/>
            <a:ext cx="312274" cy="3122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97680" y="36088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611880" y="4069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container runs independently with own resources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17920" y="3383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6217920" y="338328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618" y="3690918"/>
            <a:ext cx="283885" cy="28388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3639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6446520" y="4069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OS kernel, start in seconds, minimal overhead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52BC7588-17D0-53A5-6B88-B55DADA9534C}"/>
              </a:ext>
            </a:extLst>
          </p:cNvPr>
          <p:cNvSpPr/>
          <p:nvPr/>
        </p:nvSpPr>
        <p:spPr>
          <a:xfrm>
            <a:off x="220980" y="944880"/>
            <a:ext cx="2849880" cy="35890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FD4B05-A571-6313-9DEA-EA27854A5930}"/>
              </a:ext>
            </a:extLst>
          </p:cNvPr>
          <p:cNvSpPr/>
          <p:nvPr/>
        </p:nvSpPr>
        <p:spPr>
          <a:xfrm>
            <a:off x="3116580" y="944880"/>
            <a:ext cx="5836920" cy="35890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vs Virtual Machines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94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962400"/>
            <a:ext cx="27432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40767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3459480"/>
            <a:ext cx="274320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35737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2956560"/>
            <a:ext cx="2743200" cy="502920"/>
          </a:xfrm>
          <a:prstGeom prst="rect">
            <a:avLst/>
          </a:prstGeom>
          <a:solidFill>
            <a:srgbClr val="7DD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30708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453640"/>
            <a:ext cx="2743200" cy="502920"/>
          </a:xfrm>
          <a:prstGeom prst="rect">
            <a:avLst/>
          </a:prstGeom>
          <a:solidFill>
            <a:srgbClr val="BAE6F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25679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1950720"/>
            <a:ext cx="2743200" cy="50292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2065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1500" y="94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3962400"/>
            <a:ext cx="27432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0" y="40767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0" y="3459480"/>
            <a:ext cx="274320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0" y="35737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0" y="2956560"/>
            <a:ext cx="274320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0" y="3093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0" y="2537460"/>
            <a:ext cx="2743200" cy="41148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0" y="25984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0" y="2125980"/>
            <a:ext cx="2743200" cy="41148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004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26480" y="3962400"/>
            <a:ext cx="27432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26480" y="40767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26480" y="3550920"/>
            <a:ext cx="274320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26480" y="36195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26480" y="3139440"/>
            <a:ext cx="2743200" cy="411480"/>
          </a:xfrm>
          <a:prstGeom prst="rect">
            <a:avLst/>
          </a:prstGeom>
          <a:solidFill>
            <a:srgbClr val="7DD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26480" y="3208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26480" y="2682240"/>
            <a:ext cx="2743200" cy="457200"/>
          </a:xfrm>
          <a:prstGeom prst="rect">
            <a:avLst/>
          </a:prstGeom>
          <a:solidFill>
            <a:srgbClr val="BAE6F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26480" y="2773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126480" y="2225040"/>
            <a:ext cx="27432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126480" y="2316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26480" y="1927860"/>
            <a:ext cx="2743200" cy="3200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26480" y="195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26480" y="1607820"/>
            <a:ext cx="2743200" cy="3200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26480" y="16535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74320" y="4602480"/>
            <a:ext cx="8679180" cy="38862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7200" y="4648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share the host OS – faster, lighter, more efficient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57200" y="12725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VMs: Hardware-level virtualization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495800" y="1242060"/>
            <a:ext cx="3032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Containers: OS-level virtualization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3716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80160" y="1554480"/>
            <a:ext cx="640080" cy="64008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691640"/>
            <a:ext cx="365760" cy="3657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7" name="Text 4"/>
          <p:cNvSpPr/>
          <p:nvPr/>
        </p:nvSpPr>
        <p:spPr>
          <a:xfrm>
            <a:off x="219456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94560" y="1847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20640" y="1600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command-line interface to interact with Docker. Execute commands like docker run, docker build.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56032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914400" y="2560320"/>
            <a:ext cx="13716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280160" y="2743200"/>
            <a:ext cx="640080" cy="64008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880360"/>
            <a:ext cx="365760" cy="3657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4" name="Text 10"/>
          <p:cNvSpPr/>
          <p:nvPr/>
        </p:nvSpPr>
        <p:spPr>
          <a:xfrm>
            <a:off x="2194560" y="2724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194560" y="30358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Daemon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2788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Docker. Manages containers, images, networks, and volumes on your system.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14400" y="374904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914400" y="3749040"/>
            <a:ext cx="13716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1280160" y="3931920"/>
            <a:ext cx="640080" cy="64008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4069080"/>
            <a:ext cx="365760" cy="3657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1" name="Text 16"/>
          <p:cNvSpPr/>
          <p:nvPr/>
        </p:nvSpPr>
        <p:spPr>
          <a:xfrm>
            <a:off x="2194560" y="3913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2194560" y="4224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12064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repository (Docker Hub) where images are stored and shared globally.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vs Containers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class and its objects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840480" cy="31318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840480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46888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5661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/ Template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snapshot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app + dependencies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registry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0" y="1645920"/>
            <a:ext cx="3840480" cy="31318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0" y="1645920"/>
            <a:ext cx="384048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2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468880"/>
            <a:ext cx="1097280" cy="10972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35661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instance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state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environment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start / stop / delete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Docker’s Layered Architecture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998220" cy="998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8880" y="1051560"/>
            <a:ext cx="5760720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Dockerfile instruction creates a new layer.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cached and reused for efficiency!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286000" y="4107180"/>
            <a:ext cx="4572000" cy="41148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423160" y="41803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Writable Container Layer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0" y="3649980"/>
            <a:ext cx="4572000" cy="411480"/>
          </a:xfrm>
          <a:prstGeom prst="rect">
            <a:avLst/>
          </a:prstGeom>
          <a:solidFill>
            <a:srgbClr val="BFDB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423160" y="37231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[“python”, “app.py”]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0" y="3192780"/>
            <a:ext cx="4572000" cy="411480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423160" y="32659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/app/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86000" y="2735580"/>
            <a:ext cx="4572000" cy="41148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423160" y="28087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86000" y="2278380"/>
            <a:ext cx="45720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423160" y="23515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/app/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86000" y="1821180"/>
            <a:ext cx="45720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423160" y="18943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python:3.9-alpine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371600" y="4564380"/>
            <a:ext cx="6400800" cy="137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371600" y="47472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layers are reused - Faster builds!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Docker Commands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028700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1109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&lt;image&gt;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11109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 image from registry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13332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5956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&lt;image&gt;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5956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start a container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97964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0802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802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containers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82596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5648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5648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 running container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967228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0495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&lt;id&gt;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0495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stopped container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51860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35341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5341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downloaded images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36492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0187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&lt;id&gt;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0187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container output logs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421124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45034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45034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interactive shell in container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Fundamentals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731520" cy="731520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34440"/>
            <a:ext cx="457200" cy="4572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Text 2"/>
          <p:cNvSpPr/>
          <p:nvPr/>
        </p:nvSpPr>
        <p:spPr>
          <a:xfrm>
            <a:off x="1828800" y="1234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file with instructions to build a Docker image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22494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86000" y="22494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to build upon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94960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python:3.9-alpine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633472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26883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286000" y="26883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working directory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94960" y="2688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072384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0080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286000" y="3127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from host to image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94960" y="3127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511296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40080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286000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commands during build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9496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3950208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40080" y="40050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286000" y="4005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port application uses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94960" y="40050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5000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389120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40080" y="44439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286000" y="44439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command when container starts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394960" y="44439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Dockerfile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31927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6766560" cy="290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Python base image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python:3.9-slim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working directory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dependency file first (for caching)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dependencies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requirements.txt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application code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Expose port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5000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 application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0" y="4541520"/>
            <a:ext cx="54864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0" y="4770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Copy dependencies before code for better caching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Process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18110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554480" y="12542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554480" y="12542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2999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0" y="12999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Dockerfile with build instructions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168402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371600" y="182118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554480" y="18943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554480" y="18943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19400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19400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docker build -t myapp:latest 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297680" y="232410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371600" y="246126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1554480" y="253441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1554480" y="25344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25801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560320" y="25801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reads Dockerfile line by line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297680" y="296418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371600" y="310134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1554480" y="31744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1554480" y="31744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0" y="322021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560320" y="32202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creates a new layer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97680" y="360426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1371600" y="374142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1554480" y="38145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1554480" y="38145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3120" y="386029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560320" y="38602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cached for faster rebuilds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4297680" y="424434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1371600" y="438150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1554480" y="445465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1554480" y="44546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450037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560320" y="45003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image is ready to run!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 - Data Persistence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1463040"/>
          </a:xfrm>
          <a:prstGeom prst="rect">
            <a:avLst/>
          </a:prstGeom>
          <a:solidFill>
            <a:srgbClr val="FEE2E2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1B1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Volumes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737360"/>
            <a:ext cx="587141" cy="587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5097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991B1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deleted = Data LOST!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3840480" cy="1463040"/>
          </a:xfrm>
          <a:prstGeom prst="rect">
            <a:avLst/>
          </a:prstGeom>
          <a:solidFill>
            <a:srgbClr val="D1FAE5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6344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With Volumes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37360"/>
            <a:ext cx="587141" cy="587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234315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across container lifecycles!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0080" y="294533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6537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31109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 (PostgreSQL, MongoDB, MySQL)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3113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67685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 and metrics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9689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5880" y="404261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User-uploaded files and media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6265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25880" y="440837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files that change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2841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325880" y="477413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between containers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Types of Docker Volumes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Docker, easy to use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931920" cy="320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26280" y="149047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-v mydata:/app/data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Production databases, persistent app 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37160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Bind Mounts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Direct mapping to host filesystem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3931920" cy="320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26280" y="272491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-v /host/path:/container/path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0" y="3108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Development, code hot-reload, config files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37160" cy="10972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Anonymous Volumes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4160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Temporary, auto-generated by Docker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89120" y="3886200"/>
            <a:ext cx="3931920" cy="320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26280" y="395935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-v /container/path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89120" y="4343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Temporary data, one-time use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Networking Basics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1887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0320" y="1371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isolated by default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23864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Network Types: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14400" y="2839455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293089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bridge (default)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17519" y="2885175"/>
            <a:ext cx="397042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Isolated network for containers on same host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17520" y="3068055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Most common, container-to-container communication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3369807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7280" y="346124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017520" y="3415527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isolation, uses host’s network directly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017520" y="3598407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Maximum performance, no port mapping needed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3900159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97280" y="3991599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017520" y="394587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isolated, no network access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017520" y="4128759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Maximum security, batch processing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" y="4430511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97280" y="452195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custom bridge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017520" y="4476231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network with DNS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017520" y="4659111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Best practice for multi-container apps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Explained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0" y="1920240"/>
            <a:ext cx="1828800" cy="0"/>
          </a:xfrm>
          <a:prstGeom prst="line">
            <a:avLst/>
          </a:prstGeom>
          <a:noFill/>
          <a:ln w="63500">
            <a:solidFill>
              <a:srgbClr val="02C39A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31920" y="1554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-p 8080:80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2743200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 80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2697478"/>
            <a:ext cx="7680960" cy="2259531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port mapping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ports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8080:80 -p 8443:443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Bind to specific interface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127.0.0.1:8080:80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host port (avoid conflicts)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CMD vs ENTRYPOINT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Dockerfile execution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command (can be overridden)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 ["echo", "Hello"]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Run normally: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Hello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474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Override CMD: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myimage echo "Bye"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Bye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(overridden!)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Use for: Flexible containers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ENTRYPOINT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Fixed executable (harder to override)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83480" y="2514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["echo"]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Arguments passed to echo: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(your args)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338328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83480" y="3474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Args appended: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myimage "Hello!"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Hello!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Use for: Fixed-purpose tools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CMD + ENTRYPOINT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both together for maximum flexibility!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434164"/>
            <a:ext cx="7315200" cy="3320716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ENTRYPOINT = the executable (fixed)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["ping", "-c", "3"]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CMD = default arguments (can override)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 ["google.com"]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Usage examples: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run myimage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Pings google.com (uses CMD)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run myimage 8.8.8.8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Pings 8.8.8.8 (CMD overridden)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ENTRYPOINT stays the same (ping -c 3)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Only the target changes!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&amp; Logs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27961"/>
            <a:ext cx="3840480" cy="2012739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698859"/>
            <a:ext cx="3566160" cy="16435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Pass environment variables, these override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ENV or create new ones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-e NODE_ENV=production \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-e PORT=3000 \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-e DB_HOST=postgres \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myapp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From env file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--env-file .env myapp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655193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Dockerfile: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927107"/>
            <a:ext cx="3474720" cy="5486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4036835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 NODE_ENV=production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 PORT=3000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Viewing Logs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3840480" cy="326055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1737359"/>
            <a:ext cx="3566160" cy="2825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View all logs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Follow logs (real-time)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Last 100 lines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--tail 100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With timestamps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-t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Since specific time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--since 10m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Dockerfile Instructions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710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image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45920" y="14173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node:16-alpine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3440" y="12710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60720" y="12344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Set working directory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60720" y="14173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169164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169164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17739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45920" y="17373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Copy files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45920" y="19202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63440" y="17739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60720" y="17373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Copy + extract archives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60720" y="19202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ADD app.tar.gz /app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219456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219456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2276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45920" y="22402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45920" y="24231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663440" y="219456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663440" y="2276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60720" y="22402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760720" y="24231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 PORT=3000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269748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269748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8640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ARG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645920" y="27432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variables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645920" y="29260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ARG VERSION=1.0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63440" y="269748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63440" y="269748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663440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760720" y="27432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 port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760720" y="29260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48640" y="320040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320040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4864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645920" y="32461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Mount point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645920" y="34290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VOLUME /data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663440" y="320040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663440" y="320040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66344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760720" y="32461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Switch user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760720" y="34290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8640" y="37033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48640" y="37033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48640" y="3785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645920" y="37490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command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645920" y="39319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 ["npm", "start"]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663440" y="37033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663440" y="37033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610500" y="3785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760720" y="37490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Main executable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760720" y="39319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["node"]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887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Practice!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7830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hands-on exercises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4231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3120" y="2423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post-class activity guide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0632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0312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different base images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371600" y="3566160"/>
            <a:ext cx="64008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033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0312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Docker Hub and Docker Compose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34340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0312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Advanced Docker with GenAI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containerize the world?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1365</Words>
  <Application>Microsoft Office PowerPoint</Application>
  <PresentationFormat>On-screen Show (16:9)</PresentationFormat>
  <Paragraphs>361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Containers and Docker</dc:title>
  <dc:subject>PptxGenJS Presentation</dc:subject>
  <dc:creator>Docker Training Program</dc:creator>
  <cp:lastModifiedBy>KubeCraft Technologies</cp:lastModifiedBy>
  <cp:revision>14</cp:revision>
  <dcterms:created xsi:type="dcterms:W3CDTF">2026-02-06T17:28:04Z</dcterms:created>
  <dcterms:modified xsi:type="dcterms:W3CDTF">2026-02-08T08:56:48Z</dcterms:modified>
</cp:coreProperties>
</file>